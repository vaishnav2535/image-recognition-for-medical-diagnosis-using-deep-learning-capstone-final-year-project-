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D67AA2-2E07-7B9B-61FF-B63C8CB0E731}" v="701" dt="2024-05-07T19:47:16.072"/>
    <p1510:client id="{879CC3C7-68A5-5EDE-EE02-2BEA9C69CD80}" v="247" dt="2024-05-07T19:45:06.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73"/>
  </p:normalViewPr>
  <p:slideViewPr>
    <p:cSldViewPr snapToGrid="0">
      <p:cViewPr>
        <p:scale>
          <a:sx n="58" d="100"/>
          <a:sy n="58" d="100"/>
        </p:scale>
        <p:origin x="1112"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p>
        </p:txBody>
      </p:sp>
      <p:sp>
        <p:nvSpPr>
          <p:cNvPr id="4" name="Date Placeholder 3"/>
          <p:cNvSpPr>
            <a:spLocks noGrp="1"/>
          </p:cNvSpPr>
          <p:nvPr>
            <p:ph type="dt" sz="half" idx="10"/>
          </p:nvPr>
        </p:nvSpPr>
        <p:spPr/>
        <p:txBody>
          <a:bodyPr/>
          <a:lstStyle/>
          <a:p>
            <a:fld id="{8453E2C6-8CDE-4FA4-9434-0173729C9153}" type="datetimeFigureOut">
              <a:rPr lang="en-IN" smtClean="0"/>
              <a:t>08/05/24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3E2C6-8CDE-4FA4-9434-0173729C9153}" type="datetimeFigureOut">
              <a:rPr lang="en-IN" smtClean="0"/>
              <a:t>08/05/24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08/05/24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53E2C6-8CDE-4FA4-9434-0173729C9153}" type="datetimeFigureOut">
              <a:rPr lang="en-IN" smtClean="0"/>
              <a:t>08/05/24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53E2C6-8CDE-4FA4-9434-0173729C9153}" type="datetimeFigureOut">
              <a:rPr lang="en-IN" smtClean="0"/>
              <a:t>08/05/24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53E2C6-8CDE-4FA4-9434-0173729C9153}" type="datetimeFigureOut">
              <a:rPr lang="en-IN" smtClean="0"/>
              <a:t>08/05/24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08/05/24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08/05/24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08/05/24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3E2C6-8CDE-4FA4-9434-0173729C9153}" type="datetimeFigureOut">
              <a:rPr lang="en-IN" smtClean="0"/>
              <a:t>08/05/24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3E2C6-8CDE-4FA4-9434-0173729C9153}" type="datetimeFigureOut">
              <a:rPr lang="en-IN" smtClean="0"/>
              <a:t>08/05/24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08/05/24</a:t>
            </a:fld>
            <a:endParaRPr lang="en-IN"/>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doi.org/10.1007/s11042-022-14305-w" TargetMode="External"/><Relationship Id="rId7" Type="http://schemas.openxmlformats.org/officeDocument/2006/relationships/image" Target="../media/image4.png"/><Relationship Id="rId2" Type="http://schemas.openxmlformats.org/officeDocument/2006/relationships/hyperlink" Target="https://doi.org/10.3390/cancers15143608" TargetMode="Externa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pPr algn="ctr"/>
            <a:r>
              <a:rPr lang="en-IN" sz="4800">
                <a:latin typeface="Calibri"/>
                <a:ea typeface="Calibri"/>
                <a:cs typeface="Times New Roman"/>
              </a:rPr>
              <a:t>Image Recognition for Medical Diagnosis</a:t>
            </a:r>
            <a:endParaRPr lang="en-US" sz="4800">
              <a:latin typeface="Calibri"/>
              <a:ea typeface="Calibri"/>
              <a:cs typeface="Calibri"/>
            </a:endParaRPr>
          </a:p>
        </p:txBody>
      </p:sp>
      <p:sp>
        <p:nvSpPr>
          <p:cNvPr id="7" name="Text Placeholder 22"/>
          <p:cNvSpPr txBox="1">
            <a:spLocks/>
          </p:cNvSpPr>
          <p:nvPr/>
        </p:nvSpPr>
        <p:spPr>
          <a:xfrm>
            <a:off x="2633472" y="1499616"/>
            <a:ext cx="18390340" cy="692658"/>
          </a:xfrm>
          <a:prstGeom prst="rect">
            <a:avLst/>
          </a:prstGeom>
        </p:spPr>
        <p:txBody>
          <a:bodyPr lIns="91440" tIns="45720" rIns="91440" bIns="45720" anchor="t"/>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20BCE2535 | VAISHNAV NALLADATH | Dr. </a:t>
            </a:r>
            <a:r>
              <a:rPr lang="en-US" sz="4400" dirty="0" err="1"/>
              <a:t>Lijo</a:t>
            </a:r>
            <a:r>
              <a:rPr lang="en-US" sz="4400" dirty="0"/>
              <a:t> V.P. | SCOPE</a:t>
            </a:r>
          </a:p>
        </p:txBody>
      </p:sp>
      <p:sp>
        <p:nvSpPr>
          <p:cNvPr id="11" name="Text Placeholder 68"/>
          <p:cNvSpPr txBox="1">
            <a:spLocks/>
          </p:cNvSpPr>
          <p:nvPr/>
        </p:nvSpPr>
        <p:spPr>
          <a:xfrm>
            <a:off x="10685893" y="3101889"/>
            <a:ext cx="10332935" cy="7356766"/>
          </a:xfrm>
          <a:prstGeom prst="rect">
            <a:avLst/>
          </a:prstGeom>
          <a:noFill/>
          <a:ln w="15875">
            <a:solidFill>
              <a:schemeClr val="accent1">
                <a:shade val="50000"/>
              </a:schemeClr>
            </a:solidFill>
          </a:ln>
        </p:spPr>
        <p:txBody>
          <a:bodyPr lIns="91440" tIns="45720" rIns="91440" bIns="45720" anchor="t">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endParaRPr lang="en-IN">
              <a:ea typeface="+mn-lt"/>
              <a:cs typeface="+mn-lt"/>
            </a:endParaRPr>
          </a:p>
          <a:p>
            <a:endParaRPr lang="en-IN">
              <a:cs typeface="Calibri"/>
            </a:endParaRPr>
          </a:p>
          <a:p>
            <a:endParaRPr lang="en-IN">
              <a:cs typeface="Calibri"/>
            </a:endParaRPr>
          </a:p>
          <a:p>
            <a:endParaRPr lang="en-IN"/>
          </a:p>
          <a:p>
            <a:endParaRPr lang="en-IN"/>
          </a:p>
          <a:p>
            <a:endParaRPr lang="en-IN"/>
          </a:p>
          <a:p>
            <a:endParaRPr lang="en-IN"/>
          </a:p>
          <a:p>
            <a:endParaRPr lang="en-IN"/>
          </a:p>
          <a:p>
            <a:endParaRPr lang="en-IN"/>
          </a:p>
          <a:p>
            <a:endParaRPr lang="en-IN">
              <a:cs typeface="Calibri"/>
            </a:endParaRPr>
          </a:p>
          <a:p>
            <a:r>
              <a:rPr lang="en-IN" sz="1800" i="1">
                <a:ea typeface="+mn-lt"/>
                <a:cs typeface="+mn-lt"/>
              </a:rPr>
              <a:t>After running the sample code by giving it the datasets of x-ray images, the model detects a 96.58% chance of pneumonia. This high level of accuracy in prediction underscores the model's capability to effectively discern and quantify indicators of pneumonia compared to normal x-ray images.</a:t>
            </a:r>
          </a:p>
        </p:txBody>
      </p:sp>
      <p:sp>
        <p:nvSpPr>
          <p:cNvPr id="3" name="Rectangle 2"/>
          <p:cNvSpPr/>
          <p:nvPr/>
        </p:nvSpPr>
        <p:spPr>
          <a:xfrm>
            <a:off x="318085" y="9810308"/>
            <a:ext cx="3950056" cy="646331"/>
          </a:xfrm>
          <a:prstGeom prst="rect">
            <a:avLst/>
          </a:prstGeom>
        </p:spPr>
        <p:txBody>
          <a:bodyPr wrap="none">
            <a:spAutoFit/>
          </a:bodyPr>
          <a:lstStyle/>
          <a:p>
            <a:pPr algn="ctr"/>
            <a:r>
              <a:rPr lang="en-US" sz="3600"/>
              <a:t>Scope 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a:t>Results</a:t>
            </a:r>
          </a:p>
        </p:txBody>
      </p:sp>
      <p:sp>
        <p:nvSpPr>
          <p:cNvPr id="13" name="Rectangle 12"/>
          <p:cNvSpPr/>
          <p:nvPr/>
        </p:nvSpPr>
        <p:spPr>
          <a:xfrm>
            <a:off x="312146" y="14482659"/>
            <a:ext cx="2706895" cy="646331"/>
          </a:xfrm>
          <a:prstGeom prst="rect">
            <a:avLst/>
          </a:prstGeom>
        </p:spPr>
        <p:txBody>
          <a:bodyPr wrap="none">
            <a:spAutoFit/>
          </a:bodyPr>
          <a:lstStyle/>
          <a:p>
            <a:r>
              <a:rPr lang="en-US" altLang="zh-CN" sz="3600"/>
              <a:t>Methodology</a:t>
            </a:r>
          </a:p>
        </p:txBody>
      </p:sp>
      <p:sp>
        <p:nvSpPr>
          <p:cNvPr id="14" name="Content Placeholder 10"/>
          <p:cNvSpPr txBox="1">
            <a:spLocks/>
          </p:cNvSpPr>
          <p:nvPr/>
        </p:nvSpPr>
        <p:spPr>
          <a:xfrm>
            <a:off x="383651" y="10458911"/>
            <a:ext cx="10326161" cy="3790006"/>
          </a:xfrm>
          <a:prstGeom prst="rect">
            <a:avLst/>
          </a:prstGeom>
          <a:noFill/>
          <a:ln w="15875">
            <a:solidFill>
              <a:schemeClr val="accent1">
                <a:shade val="50000"/>
              </a:schemeClr>
            </a:solidFill>
          </a:ln>
        </p:spPr>
        <p:txBody>
          <a:bodyPr lIns="91440" tIns="45720" rIns="91440" bIns="45720" anchor="t">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a:ea typeface="+mn-lt"/>
                <a:cs typeface="+mn-lt"/>
              </a:rPr>
              <a:t>This project aims to transform healthcare by incorporating AI-driven image recognition into medical diagnostics. Its scope includes enhancing disease detection from medical imaging like X-rays and MRIs, integrating seamlessly with existing healthcare technologies, and expanding use across various medical specialties such as radiology and oncology. The project also focuses on improving treatment plans, ensuring compliance with regulatory and ethical standards, and facilitating ongoing research and development. Additionally, it encompasses educational efforts to train healthcare professionals on using this advanced technology effectively. This comprehensive approach seeks to improve accuracy in diagnostics, personalize treatment strategies, and make high-quality healthcare more accessible.</a:t>
            </a:r>
            <a:endParaRPr lang="en-US" sz="2400">
              <a:ea typeface="Calibri"/>
              <a:cs typeface="Calibri"/>
            </a:endParaRPr>
          </a:p>
        </p:txBody>
      </p:sp>
      <p:sp>
        <p:nvSpPr>
          <p:cNvPr id="16" name="Rectangle 15"/>
          <p:cNvSpPr/>
          <p:nvPr/>
        </p:nvSpPr>
        <p:spPr>
          <a:xfrm>
            <a:off x="311233" y="25162633"/>
            <a:ext cx="4082084" cy="1200329"/>
          </a:xfrm>
          <a:prstGeom prst="rect">
            <a:avLst/>
          </a:prstGeom>
        </p:spPr>
        <p:txBody>
          <a:bodyPr wrap="square" lIns="91440" tIns="45720" rIns="91440" bIns="45720" anchor="t">
            <a:spAutoFit/>
          </a:bodyPr>
          <a:lstStyle/>
          <a:p>
            <a:pPr algn="r"/>
            <a:r>
              <a:rPr lang="en-AU" sz="2400" i="1"/>
              <a:t>System Architecture Diagram 2.</a:t>
            </a:r>
          </a:p>
          <a:p>
            <a:pPr algn="r"/>
            <a:r>
              <a:rPr lang="en-AU" sz="2400" i="1">
                <a:ea typeface="Calibri"/>
                <a:cs typeface="Calibri"/>
              </a:rPr>
              <a:t>This diagram shows the methodology of the project.</a:t>
            </a:r>
          </a:p>
        </p:txBody>
      </p:sp>
      <p:sp>
        <p:nvSpPr>
          <p:cNvPr id="19" name="Rectangle 18"/>
          <p:cNvSpPr/>
          <p:nvPr/>
        </p:nvSpPr>
        <p:spPr>
          <a:xfrm>
            <a:off x="5753100" y="20181043"/>
            <a:ext cx="4902712" cy="1569660"/>
          </a:xfrm>
          <a:prstGeom prst="rect">
            <a:avLst/>
          </a:prstGeom>
        </p:spPr>
        <p:txBody>
          <a:bodyPr wrap="square" lIns="91440" tIns="45720" rIns="91440" bIns="45720" anchor="t">
            <a:spAutoFit/>
          </a:bodyPr>
          <a:lstStyle/>
          <a:p>
            <a:r>
              <a:rPr lang="en-AU" sz="2400" i="1"/>
              <a:t>System Architecture Diagram 1.</a:t>
            </a:r>
            <a:endParaRPr lang="en-US"/>
          </a:p>
          <a:p>
            <a:r>
              <a:rPr lang="en-AU" sz="2400" i="1">
                <a:ea typeface="Calibri"/>
                <a:cs typeface="Calibri"/>
              </a:rPr>
              <a:t>The diagram describes the different modules of the project. And how they interact with each other.</a:t>
            </a:r>
          </a:p>
        </p:txBody>
      </p:sp>
      <p:sp>
        <p:nvSpPr>
          <p:cNvPr id="21" name="Text Placeholder 68"/>
          <p:cNvSpPr txBox="1">
            <a:spLocks/>
          </p:cNvSpPr>
          <p:nvPr/>
        </p:nvSpPr>
        <p:spPr>
          <a:xfrm>
            <a:off x="423596" y="3108224"/>
            <a:ext cx="10254443" cy="4011542"/>
          </a:xfrm>
          <a:prstGeom prst="rect">
            <a:avLst/>
          </a:prstGeom>
          <a:noFill/>
          <a:ln w="15875">
            <a:solidFill>
              <a:schemeClr val="accent1">
                <a:shade val="50000"/>
              </a:schemeClr>
            </a:solidFill>
          </a:ln>
        </p:spPr>
        <p:txBody>
          <a:bodyPr lIns="91440" tIns="45720" rIns="91440" bIns="45720" anchor="t">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a:ea typeface="+mn-lt"/>
                <a:cs typeface="+mn-lt"/>
              </a:rPr>
              <a:t>The research has highlighted some key gaps we need to address. Firstly, there's a problem with the diversity of datasets used in medical image studies, which leads to biases and makes it hard for AI models to work well across different groups and conditions. Also, while AI models are accurate, they can be hard to understand, raising concerns about their trustworthiness in important medical decisions. Integrating AI-powered image recognition into healthcare systems brings up compatibility issues, data sharing, and workflow disruptions. Privacy is a concern, especially with sensitive patient data and advanced AI algorithms. Lastly, even though research shows promise, we're not quite there yet in terms of using AI tools widely in real-world medical settings. More studies are needed to understand how well they work, how reliable they are, and if they're worth the investment.</a:t>
            </a:r>
            <a:endParaRPr lang="en-US">
              <a:ea typeface="+mn-lt"/>
              <a:cs typeface="+mn-lt"/>
            </a:endParaRPr>
          </a:p>
        </p:txBody>
      </p:sp>
      <p:sp>
        <p:nvSpPr>
          <p:cNvPr id="22" name="Rectangle 21"/>
          <p:cNvSpPr/>
          <p:nvPr/>
        </p:nvSpPr>
        <p:spPr>
          <a:xfrm>
            <a:off x="415049" y="2481980"/>
            <a:ext cx="2514919" cy="646331"/>
          </a:xfrm>
          <a:prstGeom prst="rect">
            <a:avLst/>
          </a:prstGeom>
        </p:spPr>
        <p:txBody>
          <a:bodyPr wrap="none">
            <a:spAutoFit/>
          </a:bodyPr>
          <a:lstStyle/>
          <a:p>
            <a:pPr algn="ctr"/>
            <a:r>
              <a:rPr lang="en-US" sz="3600"/>
              <a:t>Introduction</a:t>
            </a:r>
          </a:p>
        </p:txBody>
      </p:sp>
      <p:sp>
        <p:nvSpPr>
          <p:cNvPr id="27" name="Text Placeholder 68"/>
          <p:cNvSpPr txBox="1">
            <a:spLocks/>
          </p:cNvSpPr>
          <p:nvPr/>
        </p:nvSpPr>
        <p:spPr>
          <a:xfrm>
            <a:off x="10733644" y="17517510"/>
            <a:ext cx="10237960" cy="3871069"/>
          </a:xfrm>
          <a:prstGeom prst="rect">
            <a:avLst/>
          </a:prstGeom>
          <a:noFill/>
          <a:ln w="15875">
            <a:solidFill>
              <a:schemeClr val="accent1">
                <a:shade val="50000"/>
              </a:schemeClr>
            </a:solidFill>
          </a:ln>
        </p:spPr>
        <p:txBody>
          <a:bodyPr lIns="91440" tIns="45720" rIns="91440" bIns="45720" anchor="ct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a:ea typeface="+mn-lt"/>
                <a:cs typeface="+mn-lt"/>
              </a:rPr>
              <a:t>The Project represents a significant advancement in healthcare technology, harnessing the power of AI to improve the accuracy, efficiency, and accessibility of medical diagnostics. By integrating sophisticated image recognition technologies into medical imaging devices, enhancing 3D imaging capabilities, expanding telemedicine services, and addressing ethical and privacy concerns, this project is set to transform medical diagnostics. It promises to deliver faster, more accurate diagnoses, personalized treatment plans, and greater healthcare access, particularly for underserved populations, thereby improving patient outcomes and streamlining healthcare delivery. This initiative not only showcases the potential of AI in revolutionizing healthcare but also emphasizes the importance of responsible innovation to ensure patient safety and trust.</a:t>
            </a:r>
            <a:endParaRPr lang="en-US">
              <a:ea typeface="+mn-lt"/>
              <a:cs typeface="+mn-lt"/>
            </a:endParaRPr>
          </a:p>
        </p:txBody>
      </p:sp>
      <p:sp>
        <p:nvSpPr>
          <p:cNvPr id="28" name="Rectangle 27"/>
          <p:cNvSpPr/>
          <p:nvPr/>
        </p:nvSpPr>
        <p:spPr>
          <a:xfrm>
            <a:off x="10658145" y="21393859"/>
            <a:ext cx="10314132" cy="8771632"/>
          </a:xfrm>
          <a:prstGeom prst="rect">
            <a:avLst/>
          </a:prstGeom>
        </p:spPr>
        <p:txBody>
          <a:bodyPr wrap="square" lIns="91440" tIns="45720" rIns="91440" bIns="45720" anchor="t">
            <a:spAutoFit/>
          </a:bodyPr>
          <a:lstStyle/>
          <a:p>
            <a:r>
              <a:rPr lang="en-US" sz="3600"/>
              <a:t>References</a:t>
            </a:r>
            <a:endParaRPr lang="en-US" sz="3600">
              <a:ea typeface="Calibri"/>
              <a:cs typeface="Calibri"/>
            </a:endParaRPr>
          </a:p>
          <a:p>
            <a:pPr algn="just"/>
            <a:r>
              <a:rPr lang="en-IN" sz="2400">
                <a:latin typeface="Calibri"/>
                <a:ea typeface="Calibri"/>
                <a:cs typeface="Times New Roman"/>
              </a:rPr>
              <a:t>[1] Jiang, X., Hu, Z., Wang, S., &amp; Zhang, Y. (2023). Deep Learning for Medical Image-Based Cancer Diagnosis. Cancers, 15(14), 3608. </a:t>
            </a:r>
            <a:r>
              <a:rPr lang="en-IN" sz="2400">
                <a:solidFill>
                  <a:srgbClr val="1155CC"/>
                </a:solidFill>
                <a:latin typeface="Calibri"/>
                <a:ea typeface="Calibri"/>
                <a:cs typeface="Times New Roman"/>
                <a:hlinkClick r:id="rId2"/>
              </a:rPr>
              <a:t>https://doi.org/10.3390/cancers15143608</a:t>
            </a:r>
            <a:endParaRPr lang="en-IN" sz="2400">
              <a:latin typeface="Calibri"/>
              <a:ea typeface="Calibri"/>
              <a:cs typeface="Calibri"/>
            </a:endParaRPr>
          </a:p>
          <a:p>
            <a:r>
              <a:rPr lang="en-IN" sz="2400">
                <a:cs typeface="Calibri"/>
              </a:rPr>
              <a:t>[2] </a:t>
            </a:r>
            <a:r>
              <a:rPr lang="en-IN" sz="2400">
                <a:latin typeface="Calibri"/>
                <a:ea typeface="Calibri"/>
                <a:cs typeface="Times New Roman"/>
              </a:rPr>
              <a:t>Li, L.-F., Wang, X., Hu, W.-J., Xiong, N. N., &amp; Du, Y.-X. (2020). Deep Learning in Skin Disease Image Recognition: A Review. Journal of Medical Systems, Volume 8</a:t>
            </a:r>
          </a:p>
          <a:p>
            <a:r>
              <a:rPr lang="en-IN" sz="2400">
                <a:latin typeface="Calibri"/>
                <a:ea typeface="Calibri"/>
                <a:cs typeface="Times New Roman"/>
              </a:rPr>
              <a:t>[3] S. Budd, E. C. Robinson and B. Kainz, "A survey on active learning and human-in-the-loop deep learning for medical image analysis", Med. Image Anal., vol. 71, 2021.</a:t>
            </a:r>
          </a:p>
          <a:p>
            <a:r>
              <a:rPr lang="en-IN" sz="2400">
                <a:latin typeface="Calibri"/>
                <a:ea typeface="Calibri"/>
                <a:cs typeface="Times New Roman"/>
              </a:rPr>
              <a:t>[4] P. Gope, Y. </a:t>
            </a:r>
            <a:r>
              <a:rPr lang="en-IN" sz="2400" err="1">
                <a:latin typeface="Calibri"/>
                <a:ea typeface="Calibri"/>
                <a:cs typeface="Times New Roman"/>
              </a:rPr>
              <a:t>Gheraibia</a:t>
            </a:r>
            <a:r>
              <a:rPr lang="en-IN" sz="2400">
                <a:latin typeface="Calibri"/>
                <a:ea typeface="Calibri"/>
                <a:cs typeface="Times New Roman"/>
              </a:rPr>
              <a:t>, S. Kabir and B. Sikdar, "A secure IoT-based modern healthcare system with fault-tolerant decision-making process", IEEE J. Biomed. Health </a:t>
            </a:r>
            <a:r>
              <a:rPr lang="en-IN" sz="2400" err="1">
                <a:latin typeface="Calibri"/>
                <a:ea typeface="Calibri"/>
                <a:cs typeface="Times New Roman"/>
              </a:rPr>
              <a:t>Informat</a:t>
            </a:r>
            <a:r>
              <a:rPr lang="en-IN" sz="2400">
                <a:latin typeface="Calibri"/>
                <a:ea typeface="Calibri"/>
                <a:cs typeface="Times New Roman"/>
              </a:rPr>
              <a:t>., vol. 25, no. 3, pp. 862-873, Mar. 2021.</a:t>
            </a:r>
          </a:p>
          <a:p>
            <a:r>
              <a:rPr lang="en-IN" sz="2400">
                <a:latin typeface="Calibri"/>
                <a:ea typeface="Calibri"/>
                <a:cs typeface="Times New Roman"/>
              </a:rPr>
              <a:t>[5] W. Chen et al., "Spherical-patches extraction for deep-learning-based critical points detection in 3D neuron microscopy images", IEEE Trans. Med. Imag., vol. 40, no. 2, pp. 527-538, Feb. 2021.</a:t>
            </a:r>
          </a:p>
          <a:p>
            <a:r>
              <a:rPr lang="en-IN" sz="2400">
                <a:latin typeface="Calibri"/>
                <a:ea typeface="Calibri"/>
                <a:cs typeface="Times New Roman"/>
              </a:rPr>
              <a:t>[6] Rana, M., Bhushan, M. Machine learning and deep learning approach for medical image analysis: diagnosis to detection. </a:t>
            </a:r>
            <a:r>
              <a:rPr lang="en-IN" sz="2400" err="1">
                <a:latin typeface="Calibri"/>
                <a:ea typeface="Calibri"/>
                <a:cs typeface="Times New Roman"/>
              </a:rPr>
              <a:t>Multimed</a:t>
            </a:r>
            <a:r>
              <a:rPr lang="en-IN" sz="2400">
                <a:latin typeface="Calibri"/>
                <a:ea typeface="Calibri"/>
                <a:cs typeface="Times New Roman"/>
              </a:rPr>
              <a:t> Tools Appl 82, 26731–26769 (2023). </a:t>
            </a:r>
            <a:r>
              <a:rPr lang="en-IN" sz="2400">
                <a:solidFill>
                  <a:srgbClr val="1155CC"/>
                </a:solidFill>
                <a:latin typeface="Calibri"/>
                <a:ea typeface="Calibri"/>
                <a:cs typeface="Times New Roman"/>
                <a:hlinkClick r:id="rId3"/>
              </a:rPr>
              <a:t>https://doi.org/10.1007/s11042-022-14305-w</a:t>
            </a:r>
            <a:endParaRPr lang="en-IN" sz="2400">
              <a:solidFill>
                <a:srgbClr val="1155CC"/>
              </a:solidFill>
              <a:latin typeface="Calibri"/>
              <a:ea typeface="Calibri"/>
              <a:cs typeface="Times New Roman"/>
            </a:endParaRPr>
          </a:p>
          <a:p>
            <a:r>
              <a:rPr lang="en-IN" sz="2400">
                <a:latin typeface="Calibri"/>
                <a:ea typeface="Calibri"/>
                <a:cs typeface="Times New Roman"/>
              </a:rPr>
              <a:t>[7] 1.  Z. Guo, Y. Shen, S. Wan, W. -L. Shang and K. Yu, "Hybrid Intelligence-Driven Medical Image Recognition for Remote Patient Diagnosis in Internet of Medical Things," in IEEE Journal of Biomedical and Health Informatics, vol. 26, no. 12, pp. 5817-5828, Dec. 2022, </a:t>
            </a:r>
            <a:r>
              <a:rPr lang="en-IN" sz="2400" err="1">
                <a:latin typeface="Calibri"/>
                <a:ea typeface="Calibri"/>
                <a:cs typeface="Times New Roman"/>
              </a:rPr>
              <a:t>doi</a:t>
            </a:r>
            <a:r>
              <a:rPr lang="en-IN" sz="2400">
                <a:latin typeface="Calibri"/>
                <a:ea typeface="Calibri"/>
                <a:cs typeface="Times New Roman"/>
              </a:rPr>
              <a:t>: 10.1109/JBHI.2021.3139541.</a:t>
            </a:r>
            <a:endParaRPr lang="en-IN" sz="2400">
              <a:solidFill>
                <a:srgbClr val="1155CC"/>
              </a:solidFill>
              <a:latin typeface="Calibri"/>
              <a:ea typeface="Calibri"/>
              <a:cs typeface="Times New Roman"/>
            </a:endParaRPr>
          </a:p>
          <a:p>
            <a:endParaRPr lang="en-IN" sz="2400">
              <a:solidFill>
                <a:srgbClr val="000000"/>
              </a:solidFill>
              <a:latin typeface="Calibri"/>
              <a:ea typeface="Calibri"/>
              <a:cs typeface="Times New Roman"/>
            </a:endParaRPr>
          </a:p>
        </p:txBody>
      </p:sp>
      <p:sp>
        <p:nvSpPr>
          <p:cNvPr id="29" name="Rectangle 28"/>
          <p:cNvSpPr/>
          <p:nvPr/>
        </p:nvSpPr>
        <p:spPr>
          <a:xfrm>
            <a:off x="10737883" y="16907190"/>
            <a:ext cx="2233304" cy="646331"/>
          </a:xfrm>
          <a:prstGeom prst="rect">
            <a:avLst/>
          </a:prstGeom>
        </p:spPr>
        <p:txBody>
          <a:bodyPr wrap="none">
            <a:spAutoFit/>
          </a:bodyPr>
          <a:lstStyle/>
          <a:p>
            <a:pPr algn="ctr"/>
            <a:r>
              <a:rPr lang="en-US" sz="3600"/>
              <a:t>Conclusion</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402" y="419068"/>
            <a:ext cx="2142948" cy="2069595"/>
          </a:xfrm>
          <a:prstGeom prst="rect">
            <a:avLst/>
          </a:prstGeom>
        </p:spPr>
      </p:pic>
      <p:sp>
        <p:nvSpPr>
          <p:cNvPr id="24" name="Text Placeholder 68"/>
          <p:cNvSpPr txBox="1">
            <a:spLocks/>
          </p:cNvSpPr>
          <p:nvPr/>
        </p:nvSpPr>
        <p:spPr>
          <a:xfrm>
            <a:off x="383700" y="7944804"/>
            <a:ext cx="10318227" cy="1701742"/>
          </a:xfrm>
          <a:prstGeom prst="rect">
            <a:avLst/>
          </a:prstGeom>
          <a:noFill/>
          <a:ln w="15875">
            <a:solidFill>
              <a:schemeClr val="accent1">
                <a:shade val="50000"/>
              </a:schemeClr>
            </a:solidFill>
          </a:ln>
        </p:spPr>
        <p:txBody>
          <a:bodyPr lIns="91440" tIns="45720" rIns="91440" bIns="45720" anchor="t">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a:ea typeface="+mn-lt"/>
                <a:cs typeface="+mn-lt"/>
              </a:rPr>
              <a:t>The project aims to improve healthcare diagnostics by integrating advanced image recognition technologies like deep learning. This enhances decision-making, enables earlier disease detection, and reduces diagnostic times, ultimately leading to better patient outcomes and wider access to quality healthcare.</a:t>
            </a:r>
          </a:p>
        </p:txBody>
      </p:sp>
      <p:sp>
        <p:nvSpPr>
          <p:cNvPr id="25" name="Rectangle 24"/>
          <p:cNvSpPr/>
          <p:nvPr/>
        </p:nvSpPr>
        <p:spPr>
          <a:xfrm>
            <a:off x="309618" y="7292531"/>
            <a:ext cx="2246321" cy="646331"/>
          </a:xfrm>
          <a:prstGeom prst="rect">
            <a:avLst/>
          </a:prstGeom>
        </p:spPr>
        <p:txBody>
          <a:bodyPr wrap="none">
            <a:spAutoFit/>
          </a:bodyPr>
          <a:lstStyle/>
          <a:p>
            <a:pPr algn="ctr"/>
            <a:r>
              <a:rPr lang="en-US" sz="3600"/>
              <a:t>Motivation</a:t>
            </a:r>
          </a:p>
        </p:txBody>
      </p:sp>
      <p:sp>
        <p:nvSpPr>
          <p:cNvPr id="8" name="TextBox 7">
            <a:extLst>
              <a:ext uri="{FF2B5EF4-FFF2-40B4-BE49-F238E27FC236}">
                <a16:creationId xmlns:a16="http://schemas.microsoft.com/office/drawing/2014/main" id="{2D4F686E-C307-C0F9-E951-13DA3734D50A}"/>
              </a:ext>
            </a:extLst>
          </p:cNvPr>
          <p:cNvSpPr txBox="1"/>
          <p:nvPr/>
        </p:nvSpPr>
        <p:spPr>
          <a:xfrm rot="10800000" flipV="1">
            <a:off x="392484" y="15259489"/>
            <a:ext cx="10292572" cy="4747453"/>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2750">
                <a:ea typeface="+mn-lt"/>
                <a:cs typeface="+mn-lt"/>
              </a:rPr>
              <a:t>The project starts by defining the medical diagnosis task and determining image data requirements. Diverse datasets are collected and annotated accurately. Preprocessing steps include normalization, resizing, and optional augmentation for model robustness. Automatic feature extraction using CNNs involves selecting texture, shape, and color features. Principal Component Analysis (PCA) aids in feature selection. Machine learning algorithms like SVM or Random Forests are chosen for classification, trained on split datasets. Model evaluation entails metrics like accuracy and ROC curve analysis, involving medical professionals for clinical relevance. Deployment in hospitals or clinics follows, with ongoing refinement based on feedback.</a:t>
            </a:r>
          </a:p>
        </p:txBody>
      </p:sp>
      <p:pic>
        <p:nvPicPr>
          <p:cNvPr id="4" name="Picture 3" descr="A table of numbers with black text&#10;&#10;Description automatically generated">
            <a:extLst>
              <a:ext uri="{FF2B5EF4-FFF2-40B4-BE49-F238E27FC236}">
                <a16:creationId xmlns:a16="http://schemas.microsoft.com/office/drawing/2014/main" id="{07B3DF9A-F9E0-53E4-703D-0070C52FEF6B}"/>
              </a:ext>
            </a:extLst>
          </p:cNvPr>
          <p:cNvPicPr>
            <a:picLocks noChangeAspect="1"/>
          </p:cNvPicPr>
          <p:nvPr/>
        </p:nvPicPr>
        <p:blipFill>
          <a:blip r:embed="rId5"/>
          <a:stretch>
            <a:fillRect/>
          </a:stretch>
        </p:blipFill>
        <p:spPr>
          <a:xfrm>
            <a:off x="10741170" y="11597450"/>
            <a:ext cx="10149047" cy="5288958"/>
          </a:xfrm>
          <a:prstGeom prst="rect">
            <a:avLst/>
          </a:prstGeom>
        </p:spPr>
      </p:pic>
      <p:pic>
        <p:nvPicPr>
          <p:cNvPr id="15" name="Picture 14">
            <a:extLst>
              <a:ext uri="{FF2B5EF4-FFF2-40B4-BE49-F238E27FC236}">
                <a16:creationId xmlns:a16="http://schemas.microsoft.com/office/drawing/2014/main" id="{96CF73E1-834B-25B4-3A50-D60DEDE2B36A}"/>
              </a:ext>
            </a:extLst>
          </p:cNvPr>
          <p:cNvPicPr>
            <a:picLocks noChangeAspect="1"/>
          </p:cNvPicPr>
          <p:nvPr/>
        </p:nvPicPr>
        <p:blipFill>
          <a:blip r:embed="rId6"/>
          <a:stretch>
            <a:fillRect/>
          </a:stretch>
        </p:blipFill>
        <p:spPr>
          <a:xfrm>
            <a:off x="458341" y="20183149"/>
            <a:ext cx="5292194" cy="4900412"/>
          </a:xfrm>
          <a:prstGeom prst="rect">
            <a:avLst/>
          </a:prstGeom>
        </p:spPr>
      </p:pic>
      <p:pic>
        <p:nvPicPr>
          <p:cNvPr id="9" name="Picture 8" descr="A diagram of a process&#10;&#10;Description automatically generated">
            <a:extLst>
              <a:ext uri="{FF2B5EF4-FFF2-40B4-BE49-F238E27FC236}">
                <a16:creationId xmlns:a16="http://schemas.microsoft.com/office/drawing/2014/main" id="{83D01857-8BEE-E7BA-05AD-B11C9C31F9B4}"/>
              </a:ext>
            </a:extLst>
          </p:cNvPr>
          <p:cNvPicPr>
            <a:picLocks noChangeAspect="1"/>
          </p:cNvPicPr>
          <p:nvPr/>
        </p:nvPicPr>
        <p:blipFill>
          <a:blip r:embed="rId7"/>
          <a:stretch>
            <a:fillRect/>
          </a:stretch>
        </p:blipFill>
        <p:spPr>
          <a:xfrm>
            <a:off x="4381231" y="25166145"/>
            <a:ext cx="6275434" cy="4649153"/>
          </a:xfrm>
          <a:prstGeom prst="rect">
            <a:avLst/>
          </a:prstGeom>
        </p:spPr>
      </p:pic>
      <p:pic>
        <p:nvPicPr>
          <p:cNvPr id="17" name="Picture 16">
            <a:extLst>
              <a:ext uri="{FF2B5EF4-FFF2-40B4-BE49-F238E27FC236}">
                <a16:creationId xmlns:a16="http://schemas.microsoft.com/office/drawing/2014/main" id="{B4B4C261-278C-EBAF-8418-C36ED3B08DC4}"/>
              </a:ext>
            </a:extLst>
          </p:cNvPr>
          <p:cNvPicPr>
            <a:picLocks noChangeAspect="1"/>
          </p:cNvPicPr>
          <p:nvPr/>
        </p:nvPicPr>
        <p:blipFill rotWithShape="1">
          <a:blip r:embed="rId8"/>
          <a:srcRect l="-775" r="1099"/>
          <a:stretch/>
        </p:blipFill>
        <p:spPr>
          <a:xfrm>
            <a:off x="11888727" y="3388562"/>
            <a:ext cx="8233477" cy="5415422"/>
          </a:xfrm>
          <a:prstGeom prst="rect">
            <a:avLst/>
          </a:prstGeom>
        </p:spPr>
      </p:pic>
      <p:sp>
        <p:nvSpPr>
          <p:cNvPr id="18" name="TextBox 17">
            <a:extLst>
              <a:ext uri="{FF2B5EF4-FFF2-40B4-BE49-F238E27FC236}">
                <a16:creationId xmlns:a16="http://schemas.microsoft.com/office/drawing/2014/main" id="{0F3A5705-2958-68A4-AC5F-A054138CC3D5}"/>
              </a:ext>
            </a:extLst>
          </p:cNvPr>
          <p:cNvSpPr txBox="1"/>
          <p:nvPr/>
        </p:nvSpPr>
        <p:spPr>
          <a:xfrm>
            <a:off x="10981681" y="10777053"/>
            <a:ext cx="960370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i="1">
                <a:ea typeface="Calibri"/>
                <a:cs typeface="Calibri"/>
              </a:rPr>
              <a:t>Comparison Table</a:t>
            </a:r>
          </a:p>
        </p:txBody>
      </p:sp>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0</TotalTime>
  <Words>1028</Words>
  <Application>Microsoft Macintosh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Vaishnav Menon</cp:lastModifiedBy>
  <cp:revision>2</cp:revision>
  <dcterms:created xsi:type="dcterms:W3CDTF">2016-03-28T06:32:15Z</dcterms:created>
  <dcterms:modified xsi:type="dcterms:W3CDTF">2024-05-08T09:04:18Z</dcterms:modified>
</cp:coreProperties>
</file>